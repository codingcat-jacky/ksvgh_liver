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9" r:id="rId4"/>
    <p:sldId id="261" r:id="rId5"/>
    <p:sldId id="262" r:id="rId6"/>
    <p:sldId id="263" r:id="rId7"/>
    <p:sldId id="267" r:id="rId8"/>
    <p:sldId id="265" r:id="rId9"/>
    <p:sldId id="268" r:id="rId10"/>
    <p:sldId id="266" r:id="rId11"/>
    <p:sldId id="264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C8A50F-ADDB-4916-942A-CC708F936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35914D-3637-49E6-A2BC-A8D6E49FC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518050-7E1B-45E9-88F1-9EF2A73D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1225C4-DAF2-4B23-B16F-CA5EE103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9E2D5D-C37F-4DE1-B33E-A3A9A8DB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9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CE157C-E264-4230-BA43-EF88FED4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0C5ED6-D60B-4ED0-86F4-629BFDE0E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1A43A1-B244-4951-9F8D-73414D6D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1A7171-0D83-4BD7-8AB8-13C66E48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184040-B133-4A9C-AA3F-A551D429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31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D3DDE-30B3-4603-8EB5-F6BB729C4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9880B7-5FB8-421C-BF54-0D8FFC52D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F351E6-FE62-47D8-998E-C5B401CFA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94E603-121C-4521-9037-731CCB4D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E86781-96B4-4A58-8EFA-53948642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70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B64F25-1711-4EF7-BC17-9DF5FD9E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772BA4-81AA-4705-9C49-0128F16C2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8171239-5A21-4266-8807-21D31349D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11DB1D-5C9F-43A0-833A-A21C47B9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4E2140-000D-42AA-9040-ADE937E1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53E5E4-3DDB-4684-B2F9-3F8F16E5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32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F780E-30F5-47BD-8CCD-17A683E1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62E675-4609-47C9-BAF6-AAB30313C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5693D2-197C-4DC9-B081-A9CB78618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F18CDF5-4E88-404D-B866-1D8FE44F8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4A2D9EB-44D9-43B1-8CD2-0793FF899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C517BC-8EA2-4B29-A89A-CABCD823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EF1362A-A0AF-47D7-8370-5E152AFB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40B449-6EF3-488A-B805-BA10E963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78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FCA650-9CEE-4C9D-BCD7-5634C298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C2419F3-D22E-433F-8DD8-A1F477C2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521C9BB-758F-4459-B8F0-40B1A474D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DB80450-79A7-40BA-AB7B-727C2930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59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9A8BDF9-8DE4-4FEA-9391-E324D14A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6DD4772-9C6F-4AE8-A8C0-0EA95588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E7D87F-003D-49EE-B511-03EEAD09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5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32B99D-F32C-4E9C-8AF7-1D156BCA2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9834CE-A6DE-4CB3-82E6-FFC09B95C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CFD572-E8A5-4713-90BD-72247BFB3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C72A7B-2CEE-458C-8EF3-EDE72645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12FB71-1879-412C-AF99-9FAD23EC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64E341-85BD-40CF-87C6-BECF9546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89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BFF44D-CBB6-4879-A1DF-10E67C3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F3A01A-45C2-479A-8646-76C06E47F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729E7E5-5286-4C40-9C8E-BAB8615E2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A37721-8917-440C-9931-36081548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E79564-EDEF-4D14-AB57-B88F19BAF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F28A2DA-826C-4128-A81A-D8A217FD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77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51D61-6659-43CA-A968-F09EF310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00E4C9-DEE8-4A50-A5CF-819FA166E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C737EA-3B80-4E53-A9A8-E015CFEA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0734B5-D35F-4D8D-899A-70F42086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57A6D2-007C-432F-8F4E-6E1CE78A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97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415E8D0-CC7E-4A7C-8654-353DBA4E6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84212F-3B41-4811-AFE4-930F9800D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0339EE-F7B2-4450-B047-26F81546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E0A2C0-819D-4B0D-86BC-CD5220E6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64F628-32DC-48D1-BF6A-33C05244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600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97A03E-5A27-45BF-924B-36C0B7C1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E1A4FA-6B4A-4D76-81FD-C97BE3924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5A48B0-07D6-42D2-A89B-605907DB2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99875-5AFD-40DE-9888-3A98267E51C7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C6D903-95AA-4C95-A5C9-D467C6EA6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7D1EDA-4C51-4F70-8655-C76A4D8FC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3CD3A-55D8-401D-A3A6-A962CD73C5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25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008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245B64E-B514-413E-94AA-D114408486CD}"/>
              </a:ext>
            </a:extLst>
          </p:cNvPr>
          <p:cNvSpPr txBox="1"/>
          <p:nvPr/>
        </p:nvSpPr>
        <p:spPr>
          <a:xfrm>
            <a:off x="3234264" y="4599922"/>
            <a:ext cx="7247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/>
              <a:t>結合</a:t>
            </a:r>
            <a:r>
              <a:rPr lang="en-US" altLang="zh-TW" sz="2000" dirty="0"/>
              <a:t>B-mode</a:t>
            </a:r>
            <a:r>
              <a:rPr lang="zh-TW" altLang="en-US" sz="2000" dirty="0"/>
              <a:t>、</a:t>
            </a:r>
            <a:r>
              <a:rPr lang="en-US" altLang="zh-TW" sz="2000" dirty="0"/>
              <a:t>TAI</a:t>
            </a:r>
            <a:r>
              <a:rPr lang="zh-TW" altLang="en-US" sz="2000" dirty="0"/>
              <a:t>參數圖、</a:t>
            </a:r>
            <a:r>
              <a:rPr lang="en-US" altLang="zh-TW" sz="2000" dirty="0"/>
              <a:t>TSI</a:t>
            </a:r>
            <a:r>
              <a:rPr lang="zh-TW" altLang="en-US" sz="2000" dirty="0"/>
              <a:t>參數圖預測</a:t>
            </a:r>
            <a:r>
              <a:rPr lang="en-US" altLang="zh-TW" sz="2000" dirty="0"/>
              <a:t>USFF</a:t>
            </a:r>
            <a:endParaRPr lang="zh-TW" altLang="en-US"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3966BF-87C4-42F1-B53D-A90AF276F4EF}"/>
              </a:ext>
            </a:extLst>
          </p:cNvPr>
          <p:cNvSpPr txBox="1"/>
          <p:nvPr/>
        </p:nvSpPr>
        <p:spPr>
          <a:xfrm>
            <a:off x="1862664" y="1690688"/>
            <a:ext cx="86783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/>
              <a:t>Two-dimensional Convolutional Neural Network Using Quantitative US for Noninvasive Assessment of Hepatic Steatosis in NAFLD</a:t>
            </a:r>
            <a:endParaRPr lang="zh-TW" altLang="en-US" sz="32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73CCFF7-78C7-498E-B993-CECD678D5258}"/>
              </a:ext>
            </a:extLst>
          </p:cNvPr>
          <p:cNvSpPr txBox="1"/>
          <p:nvPr/>
        </p:nvSpPr>
        <p:spPr>
          <a:xfrm>
            <a:off x="4783666" y="3422992"/>
            <a:ext cx="1862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chemeClr val="accent6">
                    <a:lumMod val="50000"/>
                  </a:schemeClr>
                </a:solidFill>
              </a:rPr>
              <a:t>Radiology 2023</a:t>
            </a:r>
            <a:endParaRPr lang="zh-TW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91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41D73CA-E63B-4E17-911C-B454FD1938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1" t="66614" r="83707" b="10667"/>
          <a:stretch/>
        </p:blipFill>
        <p:spPr>
          <a:xfrm>
            <a:off x="8415671" y="1456519"/>
            <a:ext cx="2871129" cy="192645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使用的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image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D636D83-E744-4890-9F86-8CE0F04DBA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8" t="34871" r="83903" b="42412"/>
          <a:stretch/>
        </p:blipFill>
        <p:spPr>
          <a:xfrm>
            <a:off x="4268798" y="1457818"/>
            <a:ext cx="2891268" cy="192645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3574975-B94E-44BB-BE74-C22FE26BA1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1" t="5848" r="83707" b="71332"/>
          <a:stretch/>
        </p:blipFill>
        <p:spPr>
          <a:xfrm>
            <a:off x="720779" y="1452457"/>
            <a:ext cx="2858453" cy="192645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E6F6686-D159-4372-9F5A-F1092A4422C6}"/>
              </a:ext>
            </a:extLst>
          </p:cNvPr>
          <p:cNvSpPr txBox="1"/>
          <p:nvPr/>
        </p:nvSpPr>
        <p:spPr>
          <a:xfrm>
            <a:off x="1057278" y="3588372"/>
            <a:ext cx="2185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B-mode </a:t>
            </a:r>
            <a:r>
              <a:rPr lang="en-US" altLang="zh-TW" sz="1600" b="0" i="0" dirty="0">
                <a:solidFill>
                  <a:srgbClr val="303030"/>
                </a:solidFill>
                <a:effectLst/>
                <a:latin typeface="KaTeX_Main"/>
              </a:rPr>
              <a:t>240×320</a:t>
            </a:r>
            <a:r>
              <a:rPr lang="zh-TW" altLang="en-US" sz="1600" b="0" i="0" dirty="0">
                <a:solidFill>
                  <a:srgbClr val="303030"/>
                </a:solidFill>
                <a:effectLst/>
                <a:latin typeface="Google Sans Text"/>
              </a:rPr>
              <a:t> 扇形</a:t>
            </a:r>
            <a:endParaRPr lang="en-US" altLang="zh-TW" sz="16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endParaRPr lang="zh-TW" altLang="en-US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38F292D-5679-4444-B1DD-1F5C9C141099}"/>
              </a:ext>
            </a:extLst>
          </p:cNvPr>
          <p:cNvSpPr txBox="1"/>
          <p:nvPr/>
        </p:nvSpPr>
        <p:spPr>
          <a:xfrm>
            <a:off x="4476670" y="3578371"/>
            <a:ext cx="247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0" i="0" dirty="0">
                <a:solidFill>
                  <a:srgbClr val="303030"/>
                </a:solidFill>
                <a:effectLst/>
                <a:latin typeface="Google Sans Text"/>
              </a:rPr>
              <a:t>TA</a:t>
            </a:r>
            <a:r>
              <a:rPr lang="en-US" altLang="zh-TW" sz="1600" i="0" dirty="0">
                <a:solidFill>
                  <a:srgbClr val="303030"/>
                </a:solidFill>
                <a:effectLst/>
                <a:latin typeface="Google Sans Text"/>
              </a:rPr>
              <a:t>I</a:t>
            </a:r>
            <a:r>
              <a:rPr lang="zh-TW" altLang="en-US" sz="1600" i="0" dirty="0">
                <a:solidFill>
                  <a:srgbClr val="303030"/>
                </a:solidFill>
                <a:effectLst/>
                <a:latin typeface="Google Sans Text"/>
              </a:rPr>
              <a:t>參數圖  </a:t>
            </a:r>
            <a:r>
              <a:rPr lang="en-US" altLang="zh-TW" sz="1600" b="0" i="0" dirty="0">
                <a:solidFill>
                  <a:srgbClr val="303030"/>
                </a:solidFill>
                <a:effectLst/>
                <a:latin typeface="KaTeX_Main"/>
              </a:rPr>
              <a:t>90×256</a:t>
            </a:r>
            <a:r>
              <a:rPr lang="zh-TW" altLang="en-US" sz="1600" b="0" i="0" dirty="0">
                <a:solidFill>
                  <a:srgbClr val="303030"/>
                </a:solidFill>
                <a:effectLst/>
                <a:latin typeface="Google Sans Text"/>
              </a:rPr>
              <a:t> 正方形</a:t>
            </a:r>
            <a:r>
              <a:rPr lang="en-US" altLang="zh-TW" sz="1600" b="0" i="0" dirty="0">
                <a:solidFill>
                  <a:srgbClr val="303030"/>
                </a:solidFill>
                <a:effectLst/>
                <a:latin typeface="Google Sans Text"/>
              </a:rPr>
              <a:t>(</a:t>
            </a:r>
            <a:r>
              <a:rPr lang="zh-TW" altLang="en-US" sz="1600" b="0" i="0" dirty="0">
                <a:solidFill>
                  <a:srgbClr val="303030"/>
                </a:solidFill>
                <a:effectLst/>
                <a:latin typeface="Google Sans Text"/>
              </a:rPr>
              <a:t>示意圖</a:t>
            </a:r>
            <a:r>
              <a:rPr lang="en-US" altLang="zh-TW" sz="1600" b="0" i="0" dirty="0">
                <a:solidFill>
                  <a:srgbClr val="303030"/>
                </a:solidFill>
                <a:effectLst/>
                <a:latin typeface="Google Sans Text"/>
              </a:rPr>
              <a:t>)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E89C800-966D-44CA-A8E3-F5717A3EC831}"/>
              </a:ext>
            </a:extLst>
          </p:cNvPr>
          <p:cNvSpPr txBox="1"/>
          <p:nvPr/>
        </p:nvSpPr>
        <p:spPr>
          <a:xfrm>
            <a:off x="8415671" y="3575712"/>
            <a:ext cx="2975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i="0" dirty="0">
                <a:solidFill>
                  <a:srgbClr val="303030"/>
                </a:solidFill>
                <a:effectLst/>
                <a:latin typeface="Google Sans Text"/>
              </a:rPr>
              <a:t>TSI</a:t>
            </a:r>
            <a:r>
              <a:rPr lang="zh-TW" altLang="en-US" sz="1800" b="0" i="0" dirty="0">
                <a:solidFill>
                  <a:srgbClr val="303030"/>
                </a:solidFill>
                <a:effectLst/>
                <a:latin typeface="Google Sans Text"/>
              </a:rPr>
              <a:t>參數圖</a:t>
            </a:r>
            <a:r>
              <a:rPr lang="en-US" altLang="zh-TW" sz="1800" b="0" i="0" dirty="0">
                <a:solidFill>
                  <a:srgbClr val="303030"/>
                </a:solidFill>
                <a:effectLst/>
                <a:latin typeface="KaTeX_Main"/>
              </a:rPr>
              <a:t>90×256</a:t>
            </a:r>
            <a:r>
              <a:rPr lang="zh-TW" altLang="en-US" sz="1800" b="0" i="0" dirty="0">
                <a:solidFill>
                  <a:srgbClr val="303030"/>
                </a:solidFill>
                <a:effectLst/>
                <a:latin typeface="Google Sans Text"/>
              </a:rPr>
              <a:t> 正方形</a:t>
            </a:r>
            <a:endParaRPr lang="en-US" altLang="zh-TW" sz="1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r>
              <a:rPr lang="en-US" altLang="zh-TW" sz="1800" b="0" i="0" dirty="0">
                <a:solidFill>
                  <a:srgbClr val="303030"/>
                </a:solidFill>
                <a:effectLst/>
                <a:latin typeface="Google Sans Text"/>
              </a:rPr>
              <a:t>(</a:t>
            </a:r>
            <a:r>
              <a:rPr lang="zh-TW" altLang="en-US" sz="1800" b="0" i="0" dirty="0">
                <a:solidFill>
                  <a:srgbClr val="303030"/>
                </a:solidFill>
                <a:effectLst/>
                <a:latin typeface="Google Sans Text"/>
              </a:rPr>
              <a:t>示意圖</a:t>
            </a:r>
            <a:r>
              <a:rPr lang="en-US" altLang="zh-TW" sz="1800" b="0" i="0" dirty="0">
                <a:solidFill>
                  <a:srgbClr val="303030"/>
                </a:solidFill>
                <a:effectLst/>
                <a:latin typeface="Google Sans Text"/>
              </a:rPr>
              <a:t>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EA7820C-9E18-4FF9-A0E5-8B007E884745}"/>
              </a:ext>
            </a:extLst>
          </p:cNvPr>
          <p:cNvSpPr txBox="1"/>
          <p:nvPr/>
        </p:nvSpPr>
        <p:spPr>
          <a:xfrm>
            <a:off x="838199" y="5210368"/>
            <a:ext cx="104074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B-mode 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影像：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經過掃描轉換，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輸入為「扇形」影像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lang="en-US" altLang="zh-TW" sz="1800" dirty="0">
              <a:solidFill>
                <a:srgbClr val="30303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solidFill>
                <a:srgbClr val="30303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和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TSI</a:t>
            </a:r>
            <a:r>
              <a:rPr lang="zh-TW" altLang="en-US" sz="1800" i="0" dirty="0">
                <a:solidFill>
                  <a:srgbClr val="303030"/>
                </a:solidFill>
                <a:effectLst/>
                <a:latin typeface="Google Sans Text"/>
              </a:rPr>
              <a:t>參數圖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是基於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Raw Frequency data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計算出來的定量參數，不轉換為扇形，直接以矩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陣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90×256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輸入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838199" y="4672865"/>
            <a:ext cx="1040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B-mode</a:t>
            </a:r>
            <a:r>
              <a:rPr lang="zh-TW" altLang="en-US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en-US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</a:t>
            </a:r>
            <a:r>
              <a:rPr lang="zh-TW" altLang="en-US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都是由</a:t>
            </a:r>
            <a:r>
              <a:rPr lang="zh-TW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原始射頻數據（</a:t>
            </a:r>
            <a:r>
              <a:rPr lang="en-US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Raw Frequency data</a:t>
            </a:r>
            <a:r>
              <a:rPr lang="zh-TW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）</a:t>
            </a:r>
            <a:r>
              <a:rPr lang="zh-TW" altLang="en-US" b="1" kern="100" dirty="0">
                <a:solidFill>
                  <a:srgbClr val="30303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建立而成</a:t>
            </a:r>
            <a:endParaRPr lang="en-US" altLang="zh-TW" b="1" dirty="0">
              <a:solidFill>
                <a:srgbClr val="30303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820F8A3-D377-40F1-AD9E-5DFD5D465F6E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65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41D73CA-E63B-4E17-911C-B454FD1938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1" t="66614" r="83707" b="10667"/>
          <a:stretch/>
        </p:blipFill>
        <p:spPr>
          <a:xfrm>
            <a:off x="8415671" y="1456519"/>
            <a:ext cx="2871129" cy="192645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使用的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image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D636D83-E744-4890-9F86-8CE0F04DBA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8" t="34871" r="83903" b="42412"/>
          <a:stretch/>
        </p:blipFill>
        <p:spPr>
          <a:xfrm>
            <a:off x="4268798" y="1457818"/>
            <a:ext cx="2891268" cy="192645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3574975-B94E-44BB-BE74-C22FE26BA1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1" t="5848" r="83707" b="71332"/>
          <a:stretch/>
        </p:blipFill>
        <p:spPr>
          <a:xfrm>
            <a:off x="720779" y="1452457"/>
            <a:ext cx="2858453" cy="192645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E6F6686-D159-4372-9F5A-F1092A4422C6}"/>
              </a:ext>
            </a:extLst>
          </p:cNvPr>
          <p:cNvSpPr txBox="1"/>
          <p:nvPr/>
        </p:nvSpPr>
        <p:spPr>
          <a:xfrm>
            <a:off x="1057278" y="3588372"/>
            <a:ext cx="2185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B-mode </a:t>
            </a:r>
            <a:r>
              <a:rPr lang="en-US" altLang="zh-TW" sz="1600" b="0" i="0" dirty="0">
                <a:solidFill>
                  <a:srgbClr val="303030"/>
                </a:solidFill>
                <a:effectLst/>
                <a:latin typeface="KaTeX_Main"/>
              </a:rPr>
              <a:t>240×320</a:t>
            </a:r>
            <a:r>
              <a:rPr lang="zh-TW" altLang="en-US" sz="1600" b="0" i="0" dirty="0">
                <a:solidFill>
                  <a:srgbClr val="303030"/>
                </a:solidFill>
                <a:effectLst/>
                <a:latin typeface="Google Sans Text"/>
              </a:rPr>
              <a:t> 扇形</a:t>
            </a:r>
            <a:endParaRPr lang="en-US" altLang="zh-TW" sz="16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endParaRPr lang="zh-TW" altLang="en-US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38F292D-5679-4444-B1DD-1F5C9C141099}"/>
              </a:ext>
            </a:extLst>
          </p:cNvPr>
          <p:cNvSpPr txBox="1"/>
          <p:nvPr/>
        </p:nvSpPr>
        <p:spPr>
          <a:xfrm>
            <a:off x="4476670" y="3578371"/>
            <a:ext cx="247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0" i="0" dirty="0">
                <a:solidFill>
                  <a:srgbClr val="303030"/>
                </a:solidFill>
                <a:effectLst/>
                <a:latin typeface="Google Sans Text"/>
              </a:rPr>
              <a:t>TA</a:t>
            </a:r>
            <a:r>
              <a:rPr lang="en-US" altLang="zh-TW" sz="1600" i="0" dirty="0">
                <a:solidFill>
                  <a:srgbClr val="303030"/>
                </a:solidFill>
                <a:effectLst/>
                <a:latin typeface="Google Sans Text"/>
              </a:rPr>
              <a:t>I</a:t>
            </a:r>
            <a:r>
              <a:rPr lang="zh-TW" altLang="en-US" sz="1600" i="0" dirty="0">
                <a:solidFill>
                  <a:srgbClr val="303030"/>
                </a:solidFill>
                <a:effectLst/>
                <a:latin typeface="Google Sans Text"/>
              </a:rPr>
              <a:t>參數圖  </a:t>
            </a:r>
            <a:r>
              <a:rPr lang="en-US" altLang="zh-TW" sz="1600" b="0" i="0" dirty="0">
                <a:solidFill>
                  <a:srgbClr val="303030"/>
                </a:solidFill>
                <a:effectLst/>
                <a:latin typeface="KaTeX_Main"/>
              </a:rPr>
              <a:t>90×256</a:t>
            </a:r>
            <a:r>
              <a:rPr lang="zh-TW" altLang="en-US" sz="1600" b="0" i="0" dirty="0">
                <a:solidFill>
                  <a:srgbClr val="303030"/>
                </a:solidFill>
                <a:effectLst/>
                <a:latin typeface="Google Sans Text"/>
              </a:rPr>
              <a:t> 正方形</a:t>
            </a:r>
            <a:r>
              <a:rPr lang="en-US" altLang="zh-TW" sz="1600" b="0" i="0" dirty="0">
                <a:solidFill>
                  <a:srgbClr val="303030"/>
                </a:solidFill>
                <a:effectLst/>
                <a:latin typeface="Google Sans Text"/>
              </a:rPr>
              <a:t>(</a:t>
            </a:r>
            <a:r>
              <a:rPr lang="zh-TW" altLang="en-US" sz="1600" b="0" i="0" dirty="0">
                <a:solidFill>
                  <a:srgbClr val="303030"/>
                </a:solidFill>
                <a:effectLst/>
                <a:latin typeface="Google Sans Text"/>
              </a:rPr>
              <a:t>示意圖</a:t>
            </a:r>
            <a:r>
              <a:rPr lang="en-US" altLang="zh-TW" sz="1600" b="0" i="0" dirty="0">
                <a:solidFill>
                  <a:srgbClr val="303030"/>
                </a:solidFill>
                <a:effectLst/>
                <a:latin typeface="Google Sans Text"/>
              </a:rPr>
              <a:t>)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E89C800-966D-44CA-A8E3-F5717A3EC831}"/>
              </a:ext>
            </a:extLst>
          </p:cNvPr>
          <p:cNvSpPr txBox="1"/>
          <p:nvPr/>
        </p:nvSpPr>
        <p:spPr>
          <a:xfrm>
            <a:off x="8415671" y="3575712"/>
            <a:ext cx="2975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i="0" dirty="0">
                <a:solidFill>
                  <a:srgbClr val="303030"/>
                </a:solidFill>
                <a:effectLst/>
                <a:latin typeface="Google Sans Text"/>
              </a:rPr>
              <a:t>TSI</a:t>
            </a:r>
            <a:r>
              <a:rPr lang="zh-TW" altLang="en-US" sz="1800" b="0" i="0" dirty="0">
                <a:solidFill>
                  <a:srgbClr val="303030"/>
                </a:solidFill>
                <a:effectLst/>
                <a:latin typeface="Google Sans Text"/>
              </a:rPr>
              <a:t>參數圖</a:t>
            </a:r>
            <a:r>
              <a:rPr lang="en-US" altLang="zh-TW" sz="1800" b="0" i="0" dirty="0">
                <a:solidFill>
                  <a:srgbClr val="303030"/>
                </a:solidFill>
                <a:effectLst/>
                <a:latin typeface="KaTeX_Main"/>
              </a:rPr>
              <a:t>90×256</a:t>
            </a:r>
            <a:r>
              <a:rPr lang="zh-TW" altLang="en-US" sz="1800" b="0" i="0" dirty="0">
                <a:solidFill>
                  <a:srgbClr val="303030"/>
                </a:solidFill>
                <a:effectLst/>
                <a:latin typeface="Google Sans Text"/>
              </a:rPr>
              <a:t> 正方形</a:t>
            </a:r>
            <a:endParaRPr lang="en-US" altLang="zh-TW" sz="1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r>
              <a:rPr lang="en-US" altLang="zh-TW" sz="1800" b="0" i="0" dirty="0">
                <a:solidFill>
                  <a:srgbClr val="303030"/>
                </a:solidFill>
                <a:effectLst/>
                <a:latin typeface="Google Sans Text"/>
              </a:rPr>
              <a:t>(</a:t>
            </a:r>
            <a:r>
              <a:rPr lang="zh-TW" altLang="en-US" sz="1800" b="0" i="0" dirty="0">
                <a:solidFill>
                  <a:srgbClr val="303030"/>
                </a:solidFill>
                <a:effectLst/>
                <a:latin typeface="Google Sans Text"/>
              </a:rPr>
              <a:t>示意圖</a:t>
            </a:r>
            <a:r>
              <a:rPr lang="en-US" altLang="zh-TW" sz="1800" b="0" i="0" dirty="0">
                <a:solidFill>
                  <a:srgbClr val="303030"/>
                </a:solidFill>
                <a:effectLst/>
                <a:latin typeface="Google Sans Text"/>
              </a:rPr>
              <a:t>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EA7820C-9E18-4FF9-A0E5-8B007E884745}"/>
              </a:ext>
            </a:extLst>
          </p:cNvPr>
          <p:cNvSpPr txBox="1"/>
          <p:nvPr/>
        </p:nvSpPr>
        <p:spPr>
          <a:xfrm>
            <a:off x="838199" y="5210368"/>
            <a:ext cx="10407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The TAI and TSI maps were inputted as square images before scan conversion to a convex shape, but the B-mode input was used as a convex shape image to preserve the shape and brightness information of the liver.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838199" y="4672865"/>
            <a:ext cx="1040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B-mode</a:t>
            </a:r>
            <a:r>
              <a:rPr lang="zh-TW" altLang="en-US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en-US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</a:t>
            </a:r>
            <a:r>
              <a:rPr lang="zh-TW" altLang="en-US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都是由</a:t>
            </a:r>
            <a:r>
              <a:rPr lang="zh-TW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原始射頻數據（</a:t>
            </a:r>
            <a:r>
              <a:rPr lang="en-US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Raw Frequency data</a:t>
            </a:r>
            <a:r>
              <a:rPr lang="zh-TW" altLang="zh-TW" b="1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）</a:t>
            </a:r>
            <a:r>
              <a:rPr lang="zh-TW" altLang="en-US" b="1" kern="100" dirty="0">
                <a:solidFill>
                  <a:srgbClr val="30303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建立而成</a:t>
            </a:r>
            <a:endParaRPr lang="en-US" altLang="zh-TW" b="1" dirty="0">
              <a:solidFill>
                <a:srgbClr val="30303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820F8A3-D377-40F1-AD9E-5DFD5D465F6E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22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測量方法和原因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EA7820C-9E18-4FF9-A0E5-8B007E884745}"/>
              </a:ext>
            </a:extLst>
          </p:cNvPr>
          <p:cNvSpPr txBox="1"/>
          <p:nvPr/>
        </p:nvSpPr>
        <p:spPr>
          <a:xfrm>
            <a:off x="548216" y="3907552"/>
            <a:ext cx="1040743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測量方法</a:t>
            </a:r>
            <a:endParaRPr lang="en-US" altLang="zh-TW" sz="2000" b="1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醫師在測量時會避開大血管，但「全圖」輸入意味著視野內的小血管或周邊結構仍會被保留在影像中。</a:t>
            </a:r>
            <a:endParaRPr lang="en-US" altLang="zh-TW" sz="1800" kern="100" dirty="0">
              <a:solidFill>
                <a:srgbClr val="30303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這有助於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CNN 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模型像放射科醫師一樣，透過整體的超音波衰減模式（例如深部訊號變黑的程度）來判斷脂肪肝的嚴重程度，而不僅僅是看局部紋理。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en-US" b="1" kern="100" dirty="0">
                <a:solidFill>
                  <a:srgbClr val="1F1F1F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</a:t>
            </a:r>
            <a:r>
              <a:rPr lang="en-US" altLang="zh-TW" kern="100" dirty="0">
                <a:solidFill>
                  <a:srgbClr val="1F1F1F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1800" kern="1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B-mode input was used as a convex shape image to preserve the shape and </a:t>
            </a:r>
          </a:p>
          <a:p>
            <a:r>
              <a:rPr lang="zh-TW" altLang="en-US" kern="100" dirty="0">
                <a:solidFill>
                  <a:srgbClr val="1F1F1F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</a:t>
            </a:r>
            <a:r>
              <a:rPr lang="en-US" altLang="zh-TW" sz="1800" kern="1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brightness information of the liver. )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solidFill>
                <a:srgbClr val="30303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solidFill>
                <a:srgbClr val="30303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554566" y="1177777"/>
            <a:ext cx="1040743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使用</a:t>
            </a:r>
            <a:r>
              <a:rPr lang="en-US" altLang="zh-TW" sz="20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QUS(TAI</a:t>
            </a:r>
            <a:r>
              <a:rPr lang="zh-TW" altLang="en-US" sz="20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20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TSI)</a:t>
            </a:r>
            <a:r>
              <a:rPr lang="zh-TW" altLang="en-US" sz="20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的原因</a:t>
            </a:r>
            <a:endParaRPr lang="en-US" altLang="zh-TW" sz="2000" b="1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multivariable logistic regression model using various QUS parameters has yielded high diagnostic accuracy for hepatic steatosis(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脂肪肝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).</a:t>
            </a:r>
          </a:p>
          <a:p>
            <a:endParaRPr lang="en-US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QUS parametric maps derived from radiofrequency data analysis</a:t>
            </a:r>
            <a:r>
              <a:rPr lang="zh-TW" altLang="en-US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can provide more information about liver tissue composition,</a:t>
            </a:r>
            <a:r>
              <a:rPr lang="zh-TW" altLang="en-US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which can be lost during B-mode image generation.</a:t>
            </a:r>
            <a:r>
              <a:rPr lang="zh-TW" altLang="en-US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lang="en-US" altLang="zh-TW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B-mode image depicts different tissue characteristics.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31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Label: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MRI-PDFF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439313" y="2362175"/>
            <a:ext cx="104074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和醫院的做法相同</a:t>
            </a:r>
            <a:r>
              <a:rPr lang="en-US" altLang="zh-TW" sz="1800" b="1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</a:p>
          <a:p>
            <a:endParaRPr lang="en-US" altLang="zh-TW" sz="1800" b="1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Manually placed a 1-cm-diameter circular region of interest </a:t>
            </a:r>
          </a:p>
          <a:p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 each of the nine </a:t>
            </a:r>
            <a:r>
              <a:rPr lang="en-US" altLang="zh-TW" sz="1800" kern="100" dirty="0" err="1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Couinaud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liver segments of the PDFF map.</a:t>
            </a: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Averaged values from liver segment five through eight were </a:t>
            </a:r>
          </a:p>
          <a:p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calculated and used as the reference hepatic fat content value </a:t>
            </a:r>
          </a:p>
          <a:p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to match the USFF and QUS data that were obtained from the</a:t>
            </a:r>
          </a:p>
          <a:p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right hepatic lobe.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Scheme of Couinaud's classification: Liver lobes and segments (Stammers, M. (2018) Imaging the Liver)">
            <a:extLst>
              <a:ext uri="{FF2B5EF4-FFF2-40B4-BE49-F238E27FC236}">
                <a16:creationId xmlns:a16="http://schemas.microsoft.com/office/drawing/2014/main" id="{D6BA3AB6-A661-4C66-890C-86ED604FF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004" y="1891580"/>
            <a:ext cx="3931796" cy="357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945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554566" y="1040529"/>
            <a:ext cx="1040743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使用</a:t>
            </a:r>
            <a:r>
              <a:rPr lang="en-US" altLang="zh-TW" sz="20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VGG: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共</a:t>
            </a:r>
            <a:r>
              <a:rPr lang="en-US" altLang="zh-TW" sz="20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216</a:t>
            </a:r>
            <a:r>
              <a:rPr lang="zh-TW" altLang="en-US" sz="20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個病人</a:t>
            </a:r>
            <a:endParaRPr lang="en-US" altLang="zh-TW" sz="20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1200" b="1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對每一個輸入（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B-mode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）分別使用獨立的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VGG 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網絡分支來提取特徵資訊，然後將這三組特徵</a:t>
            </a:r>
            <a:r>
              <a:rPr lang="zh-TW" altLang="zh-TW" sz="18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串接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起來，最後通過全連接層得出回歸輸出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。</a:t>
            </a:r>
            <a:endParaRPr lang="en-US" altLang="zh-TW" sz="1800" kern="100" dirty="0">
              <a:solidFill>
                <a:srgbClr val="30303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200" kern="100" dirty="0">
              <a:solidFill>
                <a:srgbClr val="30303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optimizer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用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SGD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learning rate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為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0.000001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loss function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為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MSE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batch size 32</a:t>
            </a:r>
            <a:r>
              <a:rPr lang="zh-TW" altLang="en-US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；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訓練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1500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個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epoch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。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7803823E-D6E9-4B13-8564-01BB23940B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59" b="-1"/>
          <a:stretch/>
        </p:blipFill>
        <p:spPr>
          <a:xfrm>
            <a:off x="554566" y="3162347"/>
            <a:ext cx="8566100" cy="346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0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40CD1E-D131-4960-80C9-127D8936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554566" y="1040529"/>
            <a:ext cx="1040743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使用</a:t>
            </a:r>
            <a:r>
              <a:rPr lang="en-US" altLang="zh-TW" sz="20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VGG:</a:t>
            </a: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C2EBD203-C6F9-4B79-9BDE-CAA0DC67344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4566" y="1512023"/>
            <a:ext cx="527431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27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4314EA8-C2B2-4B8C-AE96-19E26F404C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7116272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15282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20257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3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4761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Performance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554566" y="1144588"/>
            <a:ext cx="10407437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比較</a:t>
            </a:r>
            <a:r>
              <a:rPr lang="en-US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altLang="zh-TW" sz="2000" b="1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B-mode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都用</a:t>
            </a:r>
            <a:endParaRPr lang="en-US" altLang="zh-TW" sz="1800" kern="100" dirty="0">
              <a:solidFill>
                <a:srgbClr val="30303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只用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醫師肉眼判斷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得出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前</a:t>
            </a:r>
            <a:r>
              <a:rPr lang="zh-TW" altLang="en-US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者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較好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前者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跟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PDFF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的差距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較小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Correlation between USFF and MRI PDFF: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USFF 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和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MRI-PDFF 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相關係數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0.86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，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95%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信心水準真實值落在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0.82 ~ 0.90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之間</a:t>
            </a:r>
            <a:r>
              <a:rPr lang="zh-TW" altLang="en-US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R^2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為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0.74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b="1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solidFill>
                  <a:srgbClr val="1B1B1C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USFF AUCs for evaluating hepatic steatosis based on MRI PDFF values </a:t>
            </a: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1011C622-A91E-4E0C-9702-0EAFB2895D5E}"/>
              </a:ext>
            </a:extLst>
          </p:cNvPr>
          <p:cNvGraphicFramePr>
            <a:graphicFrameLocks noGrp="1"/>
          </p:cNvGraphicFramePr>
          <p:nvPr/>
        </p:nvGraphicFramePr>
        <p:xfrm>
          <a:off x="614999" y="5217943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261438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969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967857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24578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PDFF value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&gt;=</a:t>
                      </a:r>
                      <a:r>
                        <a:rPr lang="en-US" altLang="zh-TW" sz="18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5%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&gt;=</a:t>
                      </a:r>
                      <a:r>
                        <a:rPr lang="en-US" altLang="zh-TW" sz="18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15%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&gt;=</a:t>
                      </a:r>
                      <a:r>
                        <a:rPr lang="en-US" altLang="zh-TW" sz="18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15%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5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AUC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1B1B1C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1B1B1C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1B1B1C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659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83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4314EA8-C2B2-4B8C-AE96-19E26F404C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7116272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15282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20257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3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4761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Performance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693208" y="2720872"/>
            <a:ext cx="1040743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比較</a:t>
            </a:r>
            <a:r>
              <a:rPr lang="en-US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altLang="zh-TW" sz="2000" b="1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B-mode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都用</a:t>
            </a:r>
            <a:endParaRPr lang="en-US" altLang="zh-TW" sz="1800" kern="100" dirty="0">
              <a:solidFill>
                <a:srgbClr val="30303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只用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TAI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醫師肉眼判斷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得出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前</a:t>
            </a:r>
            <a:r>
              <a:rPr lang="zh-TW" altLang="en-US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者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較好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前者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跟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PDFF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的差距</a:t>
            </a:r>
            <a:r>
              <a:rPr lang="zh-TW" altLang="en-US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較小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90321ADA-2A33-4CEF-BAFA-BED5F195496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90258" y="1372037"/>
            <a:ext cx="6508534" cy="466871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85DA444-E4AE-4A6E-9976-F81DE8A2F1B5}"/>
              </a:ext>
            </a:extLst>
          </p:cNvPr>
          <p:cNvSpPr txBox="1"/>
          <p:nvPr/>
        </p:nvSpPr>
        <p:spPr>
          <a:xfrm>
            <a:off x="5816598" y="6084142"/>
            <a:ext cx="615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用</a:t>
            </a:r>
            <a:r>
              <a:rPr lang="en-US" altLang="zh-TW" sz="16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Youden index</a:t>
            </a:r>
            <a:r>
              <a:rPr lang="zh-TW" altLang="zh-TW" sz="16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來決定</a:t>
            </a:r>
            <a:r>
              <a:rPr lang="en-US" altLang="zh-TW" sz="16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s0,s1,s2,s3</a:t>
            </a:r>
            <a:r>
              <a:rPr lang="zh-TW" altLang="zh-TW" sz="16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對應的</a:t>
            </a:r>
            <a:r>
              <a:rPr lang="en-US" altLang="zh-TW" sz="16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USFF</a:t>
            </a:r>
            <a:r>
              <a:rPr lang="zh-TW" altLang="zh-TW" sz="16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區間</a:t>
            </a:r>
            <a:endParaRPr lang="zh-TW" altLang="zh-TW" sz="2000" b="1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067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4314EA8-C2B2-4B8C-AE96-19E26F404C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7116272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15282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20257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3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4761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Performance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554566" y="1144588"/>
            <a:ext cx="104074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回歸</a:t>
            </a:r>
            <a:r>
              <a:rPr lang="zh-TW" altLang="en-US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數值差距</a:t>
            </a:r>
            <a:r>
              <a:rPr lang="en-US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altLang="zh-TW" sz="2000" b="1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mean bias of the USFF over the entire MRI PDFF range was −0.97% (P = .002), </a:t>
            </a:r>
            <a:r>
              <a:rPr lang="zh-TW" altLang="en-US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lang="en-US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en-US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 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95% 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的測量誤差範圍落在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-8.8% </a:t>
            </a:r>
            <a:r>
              <a:rPr lang="zh-TW" altLang="zh-TW" sz="18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至</a:t>
            </a:r>
            <a:r>
              <a:rPr lang="en-US" altLang="zh-TW" sz="18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6.9%</a:t>
            </a:r>
            <a:r>
              <a:rPr lang="en-US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之間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6387C88C-92A4-4D8C-A2A2-00F7551EC9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2175638"/>
            <a:ext cx="5808133" cy="452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9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B4645-9067-40C3-8A86-71133EA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4314EA8-C2B2-4B8C-AE96-19E26F404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887486"/>
              </p:ext>
            </p:extLst>
          </p:nvPr>
        </p:nvGraphicFramePr>
        <p:xfrm>
          <a:off x="838200" y="1825625"/>
          <a:ext cx="105155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7116272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15282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20257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3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4761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4BD67C2-B1C3-4E57-9C6D-50A1B0FA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0D653D-B48E-47D3-9117-F9407884ECB0}"/>
              </a:ext>
            </a:extLst>
          </p:cNvPr>
          <p:cNvSpPr txBox="1"/>
          <p:nvPr/>
        </p:nvSpPr>
        <p:spPr>
          <a:xfrm>
            <a:off x="554566" y="227877"/>
            <a:ext cx="50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Performance</a:t>
            </a:r>
            <a:endParaRPr lang="zh-TW" alt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EED7BE-AE06-40D2-A341-6ED22F8FC756}"/>
              </a:ext>
            </a:extLst>
          </p:cNvPr>
          <p:cNvSpPr txBox="1"/>
          <p:nvPr/>
        </p:nvSpPr>
        <p:spPr>
          <a:xfrm>
            <a:off x="554566" y="1144588"/>
            <a:ext cx="1040743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Upside</a:t>
            </a:r>
            <a:r>
              <a:rPr lang="en-US" altLang="zh-TW" sz="20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altLang="zh-TW" sz="2000" b="1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higher sensitivity(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真陽性率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of the USFF than that of the visual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score may be more helpful in screening patients with clinically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r>
              <a:rPr lang="en-US" altLang="zh-TW" sz="1800" b="1" kern="100" dirty="0">
                <a:solidFill>
                  <a:srgbClr val="30303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Downside</a:t>
            </a:r>
            <a:r>
              <a:rPr lang="en-US" altLang="zh-TW" sz="1800" b="1" kern="10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不管用甚麼方法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(TAI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TSI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Bmode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、醫生判斷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s3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類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(MRI PDFF ≥25%)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的陽性預測值都很差，作者認為這是因為在嚴重脂肪肝區域中，訊號已經嚴重衰減，已經不靈敏了，因此不好判斷。 </a:t>
            </a: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zh-TW" sz="18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3C18C11-4B27-4732-9E4B-8ACD4D5A50E5}"/>
              </a:ext>
            </a:extLst>
          </p:cNvPr>
          <p:cNvCxnSpPr>
            <a:cxnSpLocks/>
          </p:cNvCxnSpPr>
          <p:nvPr/>
        </p:nvCxnSpPr>
        <p:spPr>
          <a:xfrm>
            <a:off x="548216" y="898377"/>
            <a:ext cx="110955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413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4173</TotalTime>
  <Words>781</Words>
  <Application>Microsoft Office PowerPoint</Application>
  <PresentationFormat>寬螢幕</PresentationFormat>
  <Paragraphs>94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Google Sans Text</vt:lpstr>
      <vt:lpstr>KaTeX_Main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建宇 賴</dc:creator>
  <cp:lastModifiedBy>建宇 賴</cp:lastModifiedBy>
  <cp:revision>25</cp:revision>
  <dcterms:created xsi:type="dcterms:W3CDTF">2026-01-07T07:04:20Z</dcterms:created>
  <dcterms:modified xsi:type="dcterms:W3CDTF">2026-01-12T11:44:44Z</dcterms:modified>
</cp:coreProperties>
</file>