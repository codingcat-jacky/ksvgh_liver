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70" r:id="rId4"/>
    <p:sldId id="258" r:id="rId5"/>
    <p:sldId id="269" r:id="rId6"/>
    <p:sldId id="271" r:id="rId7"/>
    <p:sldId id="272" r:id="rId8"/>
    <p:sldId id="273" r:id="rId9"/>
    <p:sldId id="275" r:id="rId10"/>
    <p:sldId id="284" r:id="rId11"/>
    <p:sldId id="283" r:id="rId12"/>
    <p:sldId id="276" r:id="rId13"/>
    <p:sldId id="285" r:id="rId14"/>
    <p:sldId id="274" r:id="rId15"/>
    <p:sldId id="277" r:id="rId16"/>
    <p:sldId id="279" r:id="rId17"/>
    <p:sldId id="281" r:id="rId18"/>
    <p:sldId id="282" r:id="rId19"/>
    <p:sldId id="287" r:id="rId20"/>
    <p:sldId id="286" r:id="rId21"/>
    <p:sldId id="266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C8A50F-ADDB-4916-942A-CC708F936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A35914D-3637-49E6-A2BC-A8D6E49FC8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518050-7E1B-45E9-88F1-9EF2A73D3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99875-5AFD-40DE-9888-3A98267E51C7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1225C4-DAF2-4B23-B16F-CA5EE1033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9E2D5D-C37F-4DE1-B33E-A3A9A8DB4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91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CE157C-E264-4230-BA43-EF88FED48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0C5ED6-D60B-4ED0-86F4-629BFDE0E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1A43A1-B244-4951-9F8D-73414D6D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99875-5AFD-40DE-9888-3A98267E51C7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1A7171-0D83-4BD7-8AB8-13C66E48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184040-B133-4A9C-AA3F-A551D4294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6318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BD3DDE-30B3-4603-8EB5-F6BB729C4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79880B7-5FB8-421C-BF54-0D8FFC52D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F351E6-FE62-47D8-998E-C5B401CFA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99875-5AFD-40DE-9888-3A98267E51C7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D94E603-121C-4521-9037-731CCB4DD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E86781-96B4-4A58-8EFA-539486425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8708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B64F25-1711-4EF7-BC17-9DF5FD9EB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772BA4-81AA-4705-9C49-0128F16C27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8171239-5A21-4266-8807-21D31349D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211DB1D-5C9F-43A0-833A-A21C47B9A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99875-5AFD-40DE-9888-3A98267E51C7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D4E2140-000D-42AA-9040-ADE937E11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53E5E4-3DDB-4684-B2F9-3F8F16E56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0329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1F780E-30F5-47BD-8CCD-17A683E19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E62E675-4609-47C9-BAF6-AAB30313C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75693D2-197C-4DC9-B081-A9CB78618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F18CDF5-4E88-404D-B866-1D8FE44F86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4A2D9EB-44D9-43B1-8CD2-0793FF899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EC517BC-8EA2-4B29-A89A-CABCD823E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99875-5AFD-40DE-9888-3A98267E51C7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EF1362A-A0AF-47D7-8370-5E152AFB1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740B449-6EF3-488A-B805-BA10E963F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3783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FCA650-9CEE-4C9D-BCD7-5634C298B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C2419F3-D22E-433F-8DD8-A1F477C26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99875-5AFD-40DE-9888-3A98267E51C7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521C9BB-758F-4459-B8F0-40B1A474D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DB80450-79A7-40BA-AB7B-727C29302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3594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9A8BDF9-8DE4-4FEA-9391-E324D14A2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99875-5AFD-40DE-9888-3A98267E51C7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6DD4772-9C6F-4AE8-A8C0-0EA95588E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8E7D87F-003D-49EE-B511-03EEAD09B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8542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32B99D-F32C-4E9C-8AF7-1D156BCA2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9834CE-A6DE-4CB3-82E6-FFC09B95C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7CFD572-E8A5-4713-90BD-72247BFB3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1C72A7B-2CEE-458C-8EF3-EDE726458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99875-5AFD-40DE-9888-3A98267E51C7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812FB71-1879-412C-AF99-9FAD23ECA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764E341-85BD-40CF-87C6-BECF95464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9896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BFF44D-CBB6-4879-A1DF-10E67C396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F3A01A-45C2-479A-8646-76C06E47F4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729E7E5-5286-4C40-9C8E-BAB8615E28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1A37721-8917-440C-9931-360815485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99875-5AFD-40DE-9888-3A98267E51C7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E79564-EDEF-4D14-AB57-B88F19BAF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F28A2DA-826C-4128-A81A-D8A217FDB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3773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851D61-6659-43CA-A968-F09EF3103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600E4C9-DEE8-4A50-A5CF-819FA166E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C737EA-3B80-4E53-A9A8-E015CFEA6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99875-5AFD-40DE-9888-3A98267E51C7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0734B5-D35F-4D8D-899A-70F42086B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57A6D2-007C-432F-8F4E-6E1CE78AE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3977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415E8D0-CC7E-4A7C-8654-353DBA4E60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E84212F-3B41-4811-AFE4-930F9800D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0339EE-F7B2-4450-B047-26F815460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99875-5AFD-40DE-9888-3A98267E51C7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DE0A2C0-819D-4B0D-86BC-CD5220E60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64F628-32DC-48D1-BF6A-33C05244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6004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597A03E-5A27-45BF-924B-36C0B7C13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1E1A4FA-6B4A-4D76-81FD-C97BE3924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5A48B0-07D6-42D2-A89B-605907DB2A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99875-5AFD-40DE-9888-3A98267E51C7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1C6D903-95AA-4C95-A5C9-D467C6EA6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F7D1EDA-4C51-4F70-8655-C76A4D8FC7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225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0CD1E-D131-4960-80C9-127D8936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008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1245B64E-B514-413E-94AA-D114408486CD}"/>
              </a:ext>
            </a:extLst>
          </p:cNvPr>
          <p:cNvSpPr txBox="1"/>
          <p:nvPr/>
        </p:nvSpPr>
        <p:spPr>
          <a:xfrm>
            <a:off x="4690531" y="3601184"/>
            <a:ext cx="7247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Report 2026/1/11</a:t>
            </a:r>
            <a:endParaRPr lang="zh-TW" altLang="en-US" sz="20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83966BF-87C4-42F1-B53D-A90AF276F4EF}"/>
              </a:ext>
            </a:extLst>
          </p:cNvPr>
          <p:cNvSpPr txBox="1"/>
          <p:nvPr/>
        </p:nvSpPr>
        <p:spPr>
          <a:xfrm>
            <a:off x="2387597" y="2258078"/>
            <a:ext cx="8678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FR" altLang="zh-TW" sz="3200" b="1" i="0" dirty="0">
                <a:solidFill>
                  <a:srgbClr val="282828"/>
                </a:solidFill>
                <a:effectLst/>
                <a:latin typeface="Scribd Sans"/>
              </a:rPr>
              <a:t>Samsung</a:t>
            </a:r>
            <a:r>
              <a:rPr lang="zh-TW" altLang="en-US" sz="3200" b="1" i="0" dirty="0">
                <a:solidFill>
                  <a:srgbClr val="282828"/>
                </a:solidFill>
                <a:effectLst/>
                <a:latin typeface="Scribd Sans"/>
              </a:rPr>
              <a:t> </a:t>
            </a:r>
            <a:r>
              <a:rPr lang="fr-FR" altLang="zh-TW" sz="3200" b="1" i="0" dirty="0">
                <a:solidFill>
                  <a:srgbClr val="282828"/>
                </a:solidFill>
                <a:effectLst/>
                <a:latin typeface="Scribd Sans"/>
              </a:rPr>
              <a:t>RS85 Prestige</a:t>
            </a:r>
            <a:r>
              <a:rPr lang="zh-TW" altLang="en-US" sz="3200" b="1" i="0" dirty="0">
                <a:solidFill>
                  <a:srgbClr val="282828"/>
                </a:solidFill>
                <a:effectLst/>
                <a:latin typeface="Scribd Sans"/>
              </a:rPr>
              <a:t>測量</a:t>
            </a:r>
            <a:r>
              <a:rPr lang="en-US" altLang="zh-TW" sz="3200" b="1" dirty="0">
                <a:solidFill>
                  <a:srgbClr val="282828"/>
                </a:solidFill>
                <a:latin typeface="Scribd Sans"/>
              </a:rPr>
              <a:t>FF</a:t>
            </a:r>
            <a:r>
              <a:rPr lang="zh-TW" altLang="en-US" sz="3200" b="1" dirty="0">
                <a:solidFill>
                  <a:srgbClr val="282828"/>
                </a:solidFill>
                <a:latin typeface="Scribd Sans"/>
              </a:rPr>
              <a:t>的準確度</a:t>
            </a:r>
            <a:r>
              <a:rPr lang="fr-FR" altLang="zh-TW" sz="3200" b="1" i="0" dirty="0">
                <a:solidFill>
                  <a:srgbClr val="282828"/>
                </a:solidFill>
                <a:effectLst/>
                <a:latin typeface="Scribd Sans"/>
              </a:rPr>
              <a:t> </a:t>
            </a:r>
            <a:endParaRPr lang="zh-TW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544910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0CD1E-D131-4960-80C9-127D8936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5" y="227877"/>
            <a:ext cx="9063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FR" altLang="zh-TW" sz="3200" b="1" i="0" dirty="0">
                <a:solidFill>
                  <a:srgbClr val="282828"/>
                </a:solidFill>
                <a:effectLst/>
                <a:latin typeface="Scribd Sans"/>
              </a:rPr>
              <a:t>Samsung </a:t>
            </a:r>
            <a:r>
              <a:rPr lang="zh-TW" altLang="en-US" sz="32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cribd Sans"/>
              </a:rPr>
              <a:t>超音波機器</a:t>
            </a:r>
            <a:r>
              <a:rPr lang="en-US" altLang="zh-TW" sz="32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cribd Sans"/>
              </a:rPr>
              <a:t>(</a:t>
            </a:r>
            <a:r>
              <a:rPr lang="zh-TW" altLang="en-US" sz="32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cribd Sans"/>
              </a:rPr>
              <a:t>醫院目前用的</a:t>
            </a:r>
            <a:r>
              <a:rPr lang="en-US" altLang="zh-TW" sz="32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cribd Sans"/>
              </a:rPr>
              <a:t>)</a:t>
            </a:r>
            <a:endParaRPr lang="fr-FR" altLang="zh-TW" sz="3200" b="1" i="0" dirty="0">
              <a:solidFill>
                <a:srgbClr val="282828"/>
              </a:solidFill>
              <a:effectLst/>
              <a:latin typeface="Scribd Sans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EED7BE-AE06-40D2-A341-6ED22F8FC756}"/>
              </a:ext>
            </a:extLst>
          </p:cNvPr>
          <p:cNvSpPr txBox="1"/>
          <p:nvPr/>
        </p:nvSpPr>
        <p:spPr>
          <a:xfrm>
            <a:off x="702041" y="3105834"/>
            <a:ext cx="10407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TW" b="1" i="0" dirty="0">
                <a:solidFill>
                  <a:srgbClr val="282828"/>
                </a:solidFill>
                <a:effectLst/>
                <a:latin typeface="Scribd Sans"/>
              </a:rPr>
              <a:t>RS85 Prestige – 2020/01</a:t>
            </a:r>
          </a:p>
          <a:p>
            <a:r>
              <a:rPr lang="fr-FR" altLang="zh-TW" b="1" i="0" dirty="0">
                <a:solidFill>
                  <a:srgbClr val="282828"/>
                </a:solidFill>
                <a:effectLst/>
                <a:latin typeface="Scribd Sans"/>
              </a:rPr>
              <a:t>RS85 Prestige v2.08 - Catalog - CE – 2024/01/31</a:t>
            </a: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E8F4D83-AA2D-41C4-B63C-561469E45161}"/>
              </a:ext>
            </a:extLst>
          </p:cNvPr>
          <p:cNvSpPr txBox="1"/>
          <p:nvPr/>
        </p:nvSpPr>
        <p:spPr>
          <a:xfrm>
            <a:off x="3018367" y="3079234"/>
            <a:ext cx="6155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FC5BFFB3-9F84-4A82-A7E1-D2D1E08D9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206" y="1345904"/>
            <a:ext cx="6414229" cy="453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945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0CD1E-D131-4960-80C9-127D8936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6" y="227877"/>
            <a:ext cx="5088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改進和測量不同影像的方法</a:t>
            </a:r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9820F8A3-D377-40F1-AD9E-5DFD5D465F6E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片 9">
            <a:extLst>
              <a:ext uri="{FF2B5EF4-FFF2-40B4-BE49-F238E27FC236}">
                <a16:creationId xmlns:a16="http://schemas.microsoft.com/office/drawing/2014/main" id="{8E5737C9-E05D-4650-A9EE-8CFF8157C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48" y="1040529"/>
            <a:ext cx="4591051" cy="572851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07597778-240B-4E5D-98D3-23D2CB141B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024521"/>
            <a:ext cx="4491884" cy="568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445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0CD1E-D131-4960-80C9-127D8936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6" y="227877"/>
            <a:ext cx="5088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改進和測量不同影像的方法</a:t>
            </a:r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9820F8A3-D377-40F1-AD9E-5DFD5D465F6E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圖片 16">
            <a:extLst>
              <a:ext uri="{FF2B5EF4-FFF2-40B4-BE49-F238E27FC236}">
                <a16:creationId xmlns:a16="http://schemas.microsoft.com/office/drawing/2014/main" id="{C22FFD30-125D-41E5-8115-11C8D58B2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44" y="1126254"/>
            <a:ext cx="4465803" cy="5522116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FC0B0984-5B7D-474E-85EC-93B7CB23B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7347" y="1108007"/>
            <a:ext cx="4395828" cy="554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652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0CD1E-D131-4960-80C9-127D8936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4" y="227877"/>
            <a:ext cx="11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DeepUSFF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™</a:t>
            </a:r>
            <a:endParaRPr lang="fr-FR" altLang="zh-TW" sz="3200" b="1" i="0" dirty="0">
              <a:solidFill>
                <a:srgbClr val="282828"/>
              </a:solidFill>
              <a:effectLst/>
              <a:latin typeface="Scribd Sans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EED7BE-AE06-40D2-A341-6ED22F8FC756}"/>
              </a:ext>
            </a:extLst>
          </p:cNvPr>
          <p:cNvSpPr txBox="1"/>
          <p:nvPr/>
        </p:nvSpPr>
        <p:spPr>
          <a:xfrm>
            <a:off x="668175" y="1176248"/>
            <a:ext cx="10407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三星</a:t>
            </a:r>
            <a:r>
              <a:rPr lang="en-US" altLang="zh-TW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Rs85</a:t>
            </a:r>
            <a:r>
              <a:rPr lang="zh-TW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機器的白皮書</a:t>
            </a:r>
            <a:r>
              <a:rPr lang="en-US" altLang="zh-TW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lang="zh-TW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Deep Learning-Based Ultrasound Fat Fraction for Hepatic Steatosis Assessment</a:t>
            </a:r>
            <a:endParaRPr lang="fr-FR" altLang="zh-TW" sz="2000" b="1" i="0" dirty="0">
              <a:solidFill>
                <a:srgbClr val="282828"/>
              </a:solidFill>
              <a:effectLst/>
              <a:latin typeface="Scribd Sans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E8F4D83-AA2D-41C4-B63C-561469E45161}"/>
              </a:ext>
            </a:extLst>
          </p:cNvPr>
          <p:cNvSpPr txBox="1"/>
          <p:nvPr/>
        </p:nvSpPr>
        <p:spPr>
          <a:xfrm>
            <a:off x="3018367" y="3079234"/>
            <a:ext cx="6155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0EBCA0E-240A-4C29-959E-4E275BB62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16" y="1968558"/>
            <a:ext cx="8899158" cy="474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909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0CD1E-D131-4960-80C9-127D8936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4" y="227877"/>
            <a:ext cx="11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DeepUSFF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™</a:t>
            </a:r>
            <a:endParaRPr lang="fr-FR" altLang="zh-TW" sz="3200" b="1" i="0" dirty="0">
              <a:solidFill>
                <a:srgbClr val="282828"/>
              </a:solidFill>
              <a:effectLst/>
              <a:latin typeface="Scribd Sans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E8F4D83-AA2D-41C4-B63C-561469E45161}"/>
              </a:ext>
            </a:extLst>
          </p:cNvPr>
          <p:cNvSpPr txBox="1"/>
          <p:nvPr/>
        </p:nvSpPr>
        <p:spPr>
          <a:xfrm>
            <a:off x="3018367" y="3079234"/>
            <a:ext cx="6155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CB93923-1D24-4A35-886D-24A1B3036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281" y="2958092"/>
            <a:ext cx="9189435" cy="335380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7BC239AB-C649-45D7-9A27-15B38CDDDE9F}"/>
              </a:ext>
            </a:extLst>
          </p:cNvPr>
          <p:cNvSpPr txBox="1"/>
          <p:nvPr/>
        </p:nvSpPr>
        <p:spPr>
          <a:xfrm>
            <a:off x="668175" y="1176248"/>
            <a:ext cx="104074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資料來源</a:t>
            </a:r>
            <a:r>
              <a:rPr lang="en-US" altLang="zh-TW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zh-TW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全球</a:t>
            </a:r>
            <a:endParaRPr lang="en-US" altLang="zh-TW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altLang="zh-TW" sz="2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cribd Sans"/>
            </a:endParaRPr>
          </a:p>
          <a:p>
            <a:r>
              <a:rPr lang="zh-TW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cribd Sans"/>
              </a:rPr>
              <a:t>使用的</a:t>
            </a:r>
            <a:r>
              <a:rPr lang="en-US" altLang="zh-TW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cribd Sans"/>
              </a:rPr>
              <a:t>input </a:t>
            </a:r>
            <a:r>
              <a:rPr lang="en-US" altLang="zh-TW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cribd Sans"/>
              </a:rPr>
              <a:t> data:  raw frequency data</a:t>
            </a:r>
            <a:endParaRPr lang="fr-FR" altLang="zh-TW" sz="2000" b="1" i="0" dirty="0">
              <a:solidFill>
                <a:srgbClr val="282828"/>
              </a:solidFill>
              <a:effectLst/>
              <a:latin typeface="Scribd Sans"/>
            </a:endParaRPr>
          </a:p>
        </p:txBody>
      </p:sp>
    </p:spTree>
    <p:extLst>
      <p:ext uri="{BB962C8B-B14F-4D97-AF65-F5344CB8AC3E}">
        <p14:creationId xmlns:p14="http://schemas.microsoft.com/office/powerpoint/2010/main" val="55583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0CD1E-D131-4960-80C9-127D8936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4" y="227877"/>
            <a:ext cx="11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DeepUSFF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™</a:t>
            </a:r>
            <a:endParaRPr lang="fr-FR" altLang="zh-TW" sz="3200" b="1" i="0" dirty="0">
              <a:solidFill>
                <a:srgbClr val="282828"/>
              </a:solidFill>
              <a:effectLst/>
              <a:latin typeface="Scribd Sans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EED7BE-AE06-40D2-A341-6ED22F8FC756}"/>
              </a:ext>
            </a:extLst>
          </p:cNvPr>
          <p:cNvSpPr txBox="1"/>
          <p:nvPr/>
        </p:nvSpPr>
        <p:spPr>
          <a:xfrm>
            <a:off x="668175" y="1176248"/>
            <a:ext cx="104074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sz="2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cribd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i="0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each frozen frame, </a:t>
            </a:r>
            <a:r>
              <a:rPr lang="en-US" altLang="zh-TW" sz="2000" i="0" dirty="0" err="1">
                <a:solidFill>
                  <a:srgbClr val="2828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DeepUSFF</a:t>
            </a:r>
            <a:r>
              <a:rPr lang="en-US" altLang="zh-TW" sz="2000" i="0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™ analyzes all liver-related characteristics such as the liver parenchyma or surrounding structures (e.g., diaphragm). </a:t>
            </a:r>
          </a:p>
          <a:p>
            <a:endParaRPr lang="en-US" altLang="zh-TW" sz="2000" dirty="0">
              <a:solidFill>
                <a:srgbClr val="2828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i="0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delivering real-time liver fat fraction quantification, </a:t>
            </a:r>
            <a:r>
              <a:rPr lang="en-US" altLang="zh-TW" sz="2000" i="0" dirty="0" err="1">
                <a:solidFill>
                  <a:srgbClr val="2828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DeepUSFF</a:t>
            </a:r>
            <a:r>
              <a:rPr lang="en-US" altLang="zh-TW" sz="2000" i="0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™ </a:t>
            </a:r>
            <a:r>
              <a:rPr lang="zh-TW" altLang="en-US" sz="2000" i="0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0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simplifies the clinical workflow, providing immediate results without the step of selecting a </a:t>
            </a:r>
            <a:r>
              <a:rPr lang="zh-TW" altLang="en-US" sz="2000" i="0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0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 of interest (ROI).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i="0" dirty="0">
              <a:solidFill>
                <a:srgbClr val="2828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i="0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Furthermore, a reliability indicator helps users assess the acceptability of the view for measurement.</a:t>
            </a:r>
            <a:endParaRPr lang="fr-FR" altLang="zh-TW" sz="2000" i="0" dirty="0">
              <a:solidFill>
                <a:srgbClr val="2828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E8F4D83-AA2D-41C4-B63C-561469E45161}"/>
              </a:ext>
            </a:extLst>
          </p:cNvPr>
          <p:cNvSpPr txBox="1"/>
          <p:nvPr/>
        </p:nvSpPr>
        <p:spPr>
          <a:xfrm>
            <a:off x="3018367" y="3079234"/>
            <a:ext cx="6155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DBAF69A-5821-4E03-9B96-465E2298E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" y="4105646"/>
            <a:ext cx="5572903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002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0CD1E-D131-4960-80C9-127D8936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4" y="227877"/>
            <a:ext cx="11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DeepUSFF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™ performance</a:t>
            </a:r>
            <a:endParaRPr lang="fr-FR" altLang="zh-TW" sz="3200" b="1" i="0" dirty="0">
              <a:solidFill>
                <a:srgbClr val="282828"/>
              </a:solidFill>
              <a:effectLst/>
              <a:latin typeface="Scribd Sans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EED7BE-AE06-40D2-A341-6ED22F8FC756}"/>
              </a:ext>
            </a:extLst>
          </p:cNvPr>
          <p:cNvSpPr txBox="1"/>
          <p:nvPr/>
        </p:nvSpPr>
        <p:spPr>
          <a:xfrm>
            <a:off x="668175" y="1176248"/>
            <a:ext cx="104074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i="0" dirty="0" err="1">
                <a:solidFill>
                  <a:srgbClr val="2828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DeepUSFF</a:t>
            </a:r>
            <a:r>
              <a:rPr lang="en-US" altLang="zh-TW" sz="2000" i="0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™ had a correlation coefficient of r = 0.89 with MRI-PDFF outperformed existing ultrasound-based methods</a:t>
            </a:r>
            <a:endParaRPr lang="en-US" altLang="zh-TW" sz="2000" dirty="0">
              <a:solidFill>
                <a:srgbClr val="2828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i="0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correlation coefficient of USFF (QUS-derived estimated fat fraction), TAI  and with MRI-PDFF were 0.79, 0.75, and 0.61</a:t>
            </a: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E8F4D83-AA2D-41C4-B63C-561469E45161}"/>
              </a:ext>
            </a:extLst>
          </p:cNvPr>
          <p:cNvSpPr txBox="1"/>
          <p:nvPr/>
        </p:nvSpPr>
        <p:spPr>
          <a:xfrm>
            <a:off x="3018367" y="3079234"/>
            <a:ext cx="6155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F9E2C50-13EB-43FA-8050-92D4A7C2F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31" y="2406925"/>
            <a:ext cx="5921759" cy="422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571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0CD1E-D131-4960-80C9-127D8936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4" y="227877"/>
            <a:ext cx="11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DeepUSFF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™ performance</a:t>
            </a:r>
            <a:endParaRPr lang="fr-FR" altLang="zh-TW" sz="3200" b="1" i="0" dirty="0">
              <a:solidFill>
                <a:srgbClr val="282828"/>
              </a:solidFill>
              <a:effectLst/>
              <a:latin typeface="Scribd Sans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E8F4D83-AA2D-41C4-B63C-561469E45161}"/>
              </a:ext>
            </a:extLst>
          </p:cNvPr>
          <p:cNvSpPr txBox="1"/>
          <p:nvPr/>
        </p:nvSpPr>
        <p:spPr>
          <a:xfrm>
            <a:off x="3018367" y="3079234"/>
            <a:ext cx="6155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AABEFFE-B165-4706-B5DE-1223BCC46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34" y="2589065"/>
            <a:ext cx="9160923" cy="3842119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34C7BF01-09A3-473A-A703-015E0D5AA430}"/>
              </a:ext>
            </a:extLst>
          </p:cNvPr>
          <p:cNvSpPr txBox="1"/>
          <p:nvPr/>
        </p:nvSpPr>
        <p:spPr>
          <a:xfrm>
            <a:off x="699550" y="1121940"/>
            <a:ext cx="615526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AUC</a:t>
            </a:r>
            <a:r>
              <a:rPr lang="zh-TW" altLang="zh-TW" sz="2000" b="1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比較</a:t>
            </a:r>
            <a:r>
              <a:rPr lang="en-US" altLang="zh-TW" sz="2000" b="1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:</a:t>
            </a:r>
            <a:endParaRPr lang="zh-TW" altLang="zh-TW" sz="2000" b="1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DeepUSFF</a:t>
            </a:r>
            <a:r>
              <a:rPr lang="en-US" altLang="zh-TW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™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kern="100" dirty="0">
                <a:solidFill>
                  <a:srgbClr val="30303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USFF(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用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TAI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TSI)</a:t>
            </a:r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8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醫師肉眼判斷</a:t>
            </a:r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得出</a:t>
            </a:r>
            <a:r>
              <a:rPr lang="zh-TW" altLang="en-US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前</a:t>
            </a:r>
            <a:r>
              <a:rPr lang="zh-TW" altLang="en-US" kern="100" dirty="0">
                <a:solidFill>
                  <a:srgbClr val="30303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者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較好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(</a:t>
            </a:r>
            <a:r>
              <a:rPr lang="zh-TW" altLang="en-US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前者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跟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PDFF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的差距</a:t>
            </a:r>
            <a:r>
              <a:rPr lang="zh-TW" altLang="en-US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較小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147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0CD1E-D131-4960-80C9-127D8936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4" y="227877"/>
            <a:ext cx="11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DeepUSFF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™ performance</a:t>
            </a:r>
            <a:endParaRPr lang="fr-FR" altLang="zh-TW" sz="3200" b="1" i="0" dirty="0">
              <a:solidFill>
                <a:srgbClr val="282828"/>
              </a:solidFill>
              <a:effectLst/>
              <a:latin typeface="Scribd Sans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E8F4D83-AA2D-41C4-B63C-561469E45161}"/>
              </a:ext>
            </a:extLst>
          </p:cNvPr>
          <p:cNvSpPr txBox="1"/>
          <p:nvPr/>
        </p:nvSpPr>
        <p:spPr>
          <a:xfrm>
            <a:off x="3018367" y="3079234"/>
            <a:ext cx="6155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4C7BF01-09A3-473A-A703-015E0D5AA430}"/>
              </a:ext>
            </a:extLst>
          </p:cNvPr>
          <p:cNvSpPr txBox="1"/>
          <p:nvPr/>
        </p:nvSpPr>
        <p:spPr>
          <a:xfrm>
            <a:off x="699550" y="1121940"/>
            <a:ext cx="61552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靈敏度、特異度</a:t>
            </a:r>
            <a:r>
              <a:rPr lang="zh-TW" altLang="zh-TW" sz="2000" b="1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比較</a:t>
            </a:r>
            <a:r>
              <a:rPr lang="en-US" altLang="zh-TW" sz="2000" b="1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:</a:t>
            </a:r>
            <a:endParaRPr lang="zh-TW" altLang="zh-TW" sz="2000" b="1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39DF9A-1E44-4AC8-87E7-6736B7727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16" y="1825625"/>
            <a:ext cx="10642006" cy="308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966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0CD1E-D131-4960-80C9-127D8936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0" y="19566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4" y="227877"/>
            <a:ext cx="11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DeepUSFF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™ MRI-PDFF</a:t>
            </a:r>
            <a:endParaRPr lang="fr-FR" altLang="zh-TW" sz="3200" b="1" i="0" dirty="0">
              <a:solidFill>
                <a:srgbClr val="282828"/>
              </a:solidFill>
              <a:effectLst/>
              <a:latin typeface="Scribd Sans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E8F4D83-AA2D-41C4-B63C-561469E45161}"/>
              </a:ext>
            </a:extLst>
          </p:cNvPr>
          <p:cNvSpPr txBox="1"/>
          <p:nvPr/>
        </p:nvSpPr>
        <p:spPr>
          <a:xfrm>
            <a:off x="3018367" y="3079234"/>
            <a:ext cx="6155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4C7BF01-09A3-473A-A703-015E0D5AA430}"/>
              </a:ext>
            </a:extLst>
          </p:cNvPr>
          <p:cNvSpPr txBox="1"/>
          <p:nvPr/>
        </p:nvSpPr>
        <p:spPr>
          <a:xfrm>
            <a:off x="699549" y="1121940"/>
            <a:ext cx="100615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kern="100" dirty="0">
                <a:solidFill>
                  <a:srgbClr val="30303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Reference</a:t>
            </a:r>
            <a:r>
              <a:rPr lang="zh-TW" altLang="en-US" sz="2000" b="1" kern="100" dirty="0">
                <a:solidFill>
                  <a:srgbClr val="30303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文獻</a:t>
            </a:r>
            <a:r>
              <a:rPr lang="en-US" altLang="zh-TW" sz="2000" b="1" kern="100" dirty="0">
                <a:solidFill>
                  <a:srgbClr val="30303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0" dirty="0">
                <a:solidFill>
                  <a:srgbClr val="222222"/>
                </a:solidFill>
                <a:effectLst/>
                <a:latin typeface="-apple-system"/>
              </a:rPr>
              <a:t>Development and validation of multivariable quantitative ultrasound for diagnosing hepatic steatosis</a:t>
            </a:r>
            <a:r>
              <a:rPr lang="en-US" altLang="zh-TW" sz="2000" b="1" kern="100" dirty="0">
                <a:solidFill>
                  <a:srgbClr val="30303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r>
              <a:rPr lang="zh-TW" altLang="en-US" sz="2000" b="1" kern="100" dirty="0">
                <a:solidFill>
                  <a:srgbClr val="30303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中的方法和醫院的方法相同</a:t>
            </a:r>
            <a:endParaRPr lang="en-US" altLang="zh-TW" sz="2000" b="1" kern="100" dirty="0">
              <a:solidFill>
                <a:srgbClr val="303030"/>
              </a:solidFill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A044A87-19EA-4F01-86D7-5C84CDF20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49" y="2014096"/>
            <a:ext cx="942200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974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FB902F1A-9470-4B64-BFA2-B507D6692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677" y="3343977"/>
            <a:ext cx="9640645" cy="1314633"/>
          </a:xfr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4" y="227877"/>
            <a:ext cx="11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DeepUSFF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™</a:t>
            </a:r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earlier performance(2022)</a:t>
            </a:r>
            <a:endParaRPr lang="fr-FR" altLang="zh-TW" sz="3200" b="1" i="0" dirty="0">
              <a:solidFill>
                <a:srgbClr val="282828"/>
              </a:solidFill>
              <a:effectLst/>
              <a:latin typeface="Scribd Sans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EED7BE-AE06-40D2-A341-6ED22F8FC756}"/>
              </a:ext>
            </a:extLst>
          </p:cNvPr>
          <p:cNvSpPr txBox="1"/>
          <p:nvPr/>
        </p:nvSpPr>
        <p:spPr>
          <a:xfrm>
            <a:off x="668175" y="1176248"/>
            <a:ext cx="10407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sz="2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cribd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i="0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https://21291849.fs1.hubspotusercontent-na1.net/hubfs/21291849/QUS%20Whitepaper.pdf</a:t>
            </a: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E8F4D83-AA2D-41C4-B63C-561469E45161}"/>
              </a:ext>
            </a:extLst>
          </p:cNvPr>
          <p:cNvSpPr txBox="1"/>
          <p:nvPr/>
        </p:nvSpPr>
        <p:spPr>
          <a:xfrm>
            <a:off x="3018367" y="3079234"/>
            <a:ext cx="6155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374701D-768A-40F6-A842-57D769C86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804" y="1968558"/>
            <a:ext cx="6449325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685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FB902F1A-9470-4B64-BFA2-B507D6692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677" y="3343977"/>
            <a:ext cx="9640645" cy="1314633"/>
          </a:xfr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4" y="227877"/>
            <a:ext cx="11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DeepUSFF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™</a:t>
            </a:r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earlier performance(2022)</a:t>
            </a:r>
            <a:endParaRPr lang="fr-FR" altLang="zh-TW" sz="3200" b="1" i="0" dirty="0">
              <a:solidFill>
                <a:srgbClr val="282828"/>
              </a:solidFill>
              <a:effectLst/>
              <a:latin typeface="Scribd Sans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EED7BE-AE06-40D2-A341-6ED22F8FC756}"/>
              </a:ext>
            </a:extLst>
          </p:cNvPr>
          <p:cNvSpPr txBox="1"/>
          <p:nvPr/>
        </p:nvSpPr>
        <p:spPr>
          <a:xfrm>
            <a:off x="668175" y="1176248"/>
            <a:ext cx="10407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sz="2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cribd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i="0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與第一代相比</a:t>
            </a:r>
            <a:endParaRPr lang="en-US" altLang="zh-TW" sz="2000" i="0" dirty="0">
              <a:solidFill>
                <a:srgbClr val="2828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E8F4D83-AA2D-41C4-B63C-561469E45161}"/>
              </a:ext>
            </a:extLst>
          </p:cNvPr>
          <p:cNvSpPr txBox="1"/>
          <p:nvPr/>
        </p:nvSpPr>
        <p:spPr>
          <a:xfrm>
            <a:off x="3018367" y="3079234"/>
            <a:ext cx="6155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0A0E284D-C829-4554-B353-323CCBEA3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276" y="2025192"/>
            <a:ext cx="10915479" cy="148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563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0CD1E-D131-4960-80C9-127D8936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4" y="227877"/>
            <a:ext cx="11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DeepUSFF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™</a:t>
            </a:r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earlier performance</a:t>
            </a:r>
            <a:endParaRPr lang="fr-FR" altLang="zh-TW" sz="3200" b="1" i="0" dirty="0">
              <a:solidFill>
                <a:srgbClr val="282828"/>
              </a:solidFill>
              <a:effectLst/>
              <a:latin typeface="Scribd Sans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EED7BE-AE06-40D2-A341-6ED22F8FC756}"/>
              </a:ext>
            </a:extLst>
          </p:cNvPr>
          <p:cNvSpPr txBox="1"/>
          <p:nvPr/>
        </p:nvSpPr>
        <p:spPr>
          <a:xfrm>
            <a:off x="668175" y="1176248"/>
            <a:ext cx="104074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cribd Sans"/>
              </a:rPr>
              <a:t>文章中參考的</a:t>
            </a:r>
            <a:r>
              <a:rPr lang="en-US" altLang="zh-TW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cribd Sans"/>
              </a:rPr>
              <a:t>paper - </a:t>
            </a:r>
            <a:r>
              <a:rPr lang="en-US" altLang="zh-TW" sz="2000" b="1" i="0" dirty="0">
                <a:solidFill>
                  <a:srgbClr val="222222"/>
                </a:solidFill>
                <a:effectLst/>
                <a:latin typeface="-apple-system"/>
              </a:rPr>
              <a:t>Development and validation of multivariable quantitative ultrasound for diagnosing hepatic steatosis</a:t>
            </a:r>
          </a:p>
          <a:p>
            <a:endParaRPr lang="en-US" altLang="zh-TW" sz="2000" b="1" i="0" dirty="0">
              <a:solidFill>
                <a:srgbClr val="222222"/>
              </a:solidFill>
              <a:effectLst/>
              <a:latin typeface="-apple-system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cribd Sans"/>
              </a:rPr>
              <a:t>其中的</a:t>
            </a:r>
            <a:r>
              <a:rPr lang="en-US" altLang="zh-TW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cribd Sans"/>
              </a:rPr>
              <a:t>USFF</a:t>
            </a:r>
            <a:r>
              <a:rPr lang="zh-TW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cribd Sans"/>
              </a:rPr>
              <a:t>算法和醫院提供給我他們機器的算法一樣</a:t>
            </a:r>
            <a:r>
              <a:rPr lang="en-US" altLang="zh-TW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cribd Sans"/>
              </a:rPr>
              <a:t>(USFF</a:t>
            </a:r>
            <a:r>
              <a:rPr lang="zh-TW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cribd Sans"/>
              </a:rPr>
              <a:t> </a:t>
            </a:r>
            <a:r>
              <a:rPr lang="en-US" altLang="zh-TW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cribd Sans"/>
              </a:rPr>
              <a:t>=</a:t>
            </a:r>
            <a:r>
              <a:rPr lang="zh-TW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cribd Sans"/>
              </a:rPr>
              <a:t> </a:t>
            </a:r>
            <a:r>
              <a:rPr lang="en-US" altLang="zh-TW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cribd Sans"/>
              </a:rPr>
              <a:t>-44.3 + 41.9*TAI + 0.23*TSI)</a:t>
            </a:r>
            <a:endParaRPr lang="en-US" altLang="zh-TW" sz="200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cribd Sans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E8F4D83-AA2D-41C4-B63C-561469E45161}"/>
              </a:ext>
            </a:extLst>
          </p:cNvPr>
          <p:cNvSpPr txBox="1"/>
          <p:nvPr/>
        </p:nvSpPr>
        <p:spPr>
          <a:xfrm>
            <a:off x="3018367" y="3079234"/>
            <a:ext cx="6155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636A84C-FD63-42A8-9AD3-A5A57D41E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462" y="2634624"/>
            <a:ext cx="8470977" cy="319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752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0CD1E-D131-4960-80C9-127D8936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4" y="227877"/>
            <a:ext cx="11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DeepUSFF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™</a:t>
            </a:r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earlier performance</a:t>
            </a:r>
            <a:endParaRPr lang="fr-FR" altLang="zh-TW" sz="3200" b="1" i="0" dirty="0">
              <a:solidFill>
                <a:srgbClr val="282828"/>
              </a:solidFill>
              <a:effectLst/>
              <a:latin typeface="Scribd Sans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EED7BE-AE06-40D2-A341-6ED22F8FC756}"/>
              </a:ext>
            </a:extLst>
          </p:cNvPr>
          <p:cNvSpPr txBox="1"/>
          <p:nvPr/>
        </p:nvSpPr>
        <p:spPr>
          <a:xfrm>
            <a:off x="651241" y="1033315"/>
            <a:ext cx="10407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cribd Sans"/>
              </a:rPr>
              <a:t>文章中參考的</a:t>
            </a:r>
            <a:r>
              <a:rPr lang="en-US" altLang="zh-TW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cribd Sans"/>
              </a:rPr>
              <a:t>paper - </a:t>
            </a:r>
            <a:r>
              <a:rPr lang="en-US" altLang="zh-TW" sz="2000" b="1" i="0" dirty="0">
                <a:solidFill>
                  <a:srgbClr val="222222"/>
                </a:solidFill>
                <a:effectLst/>
                <a:latin typeface="-apple-system"/>
              </a:rPr>
              <a:t>Development and validation of multivariable quantitative ultrasound for diagnosing hepatic steatosis</a:t>
            </a: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E8F4D83-AA2D-41C4-B63C-561469E45161}"/>
              </a:ext>
            </a:extLst>
          </p:cNvPr>
          <p:cNvSpPr txBox="1"/>
          <p:nvPr/>
        </p:nvSpPr>
        <p:spPr>
          <a:xfrm>
            <a:off x="3018367" y="3079234"/>
            <a:ext cx="6155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450736E-E62C-45DC-9567-6B041AB48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786" y="1572154"/>
            <a:ext cx="7107851" cy="5167312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81524259-4F8D-4E3D-BF04-6F6EFE95F598}"/>
              </a:ext>
            </a:extLst>
          </p:cNvPr>
          <p:cNvSpPr txBox="1"/>
          <p:nvPr/>
        </p:nvSpPr>
        <p:spPr>
          <a:xfrm>
            <a:off x="2446866" y="3632526"/>
            <a:ext cx="2180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i="0" dirty="0">
                <a:solidFill>
                  <a:schemeClr val="accent1">
                    <a:lumMod val="75000"/>
                  </a:schemeClr>
                </a:solidFill>
                <a:effectLst/>
                <a:latin typeface="-apple-system"/>
              </a:rPr>
              <a:t>AUC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12232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0CD1E-D131-4960-80C9-127D8936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4" y="227877"/>
            <a:ext cx="11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DeepUSFF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™</a:t>
            </a:r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earlier performance</a:t>
            </a:r>
            <a:endParaRPr lang="fr-FR" altLang="zh-TW" sz="3200" b="1" i="0" dirty="0">
              <a:solidFill>
                <a:srgbClr val="282828"/>
              </a:solidFill>
              <a:effectLst/>
              <a:latin typeface="Scribd Sans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EED7BE-AE06-40D2-A341-6ED22F8FC756}"/>
              </a:ext>
            </a:extLst>
          </p:cNvPr>
          <p:cNvSpPr txBox="1"/>
          <p:nvPr/>
        </p:nvSpPr>
        <p:spPr>
          <a:xfrm>
            <a:off x="651241" y="1033315"/>
            <a:ext cx="10407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cribd Sans"/>
              </a:rPr>
              <a:t>文章中參考的</a:t>
            </a:r>
            <a:r>
              <a:rPr lang="en-US" altLang="zh-TW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cribd Sans"/>
              </a:rPr>
              <a:t>paper - </a:t>
            </a:r>
            <a:r>
              <a:rPr lang="en-US" altLang="zh-TW" sz="2000" b="1" i="0" dirty="0">
                <a:solidFill>
                  <a:srgbClr val="222222"/>
                </a:solidFill>
                <a:effectLst/>
                <a:latin typeface="-apple-system"/>
              </a:rPr>
              <a:t>Development and validation of multivariable quantitative ultrasound for diagnosing hepatic steatosis</a:t>
            </a: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E8F4D83-AA2D-41C4-B63C-561469E45161}"/>
              </a:ext>
            </a:extLst>
          </p:cNvPr>
          <p:cNvSpPr txBox="1"/>
          <p:nvPr/>
        </p:nvSpPr>
        <p:spPr>
          <a:xfrm>
            <a:off x="3018367" y="3079234"/>
            <a:ext cx="6155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1524259-4F8D-4E3D-BF04-6F6EFE95F598}"/>
              </a:ext>
            </a:extLst>
          </p:cNvPr>
          <p:cNvSpPr txBox="1"/>
          <p:nvPr/>
        </p:nvSpPr>
        <p:spPr>
          <a:xfrm>
            <a:off x="1244600" y="3532990"/>
            <a:ext cx="2180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i="0" dirty="0">
                <a:solidFill>
                  <a:schemeClr val="accent1">
                    <a:lumMod val="75000"/>
                  </a:schemeClr>
                </a:solidFill>
                <a:effectLst/>
                <a:latin typeface="-apple-system"/>
              </a:rPr>
              <a:t>S1</a:t>
            </a:r>
            <a:endParaRPr lang="zh-TW" altLang="en-US" sz="2400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010C507-D8C7-4428-8F19-C1003BC61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797" y="1775112"/>
            <a:ext cx="9861466" cy="393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964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0CD1E-D131-4960-80C9-127D8936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4" y="227877"/>
            <a:ext cx="11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DeepUSFF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™</a:t>
            </a:r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earlier performance</a:t>
            </a:r>
            <a:endParaRPr lang="fr-FR" altLang="zh-TW" sz="3200" b="1" i="0" dirty="0">
              <a:solidFill>
                <a:srgbClr val="282828"/>
              </a:solidFill>
              <a:effectLst/>
              <a:latin typeface="Scribd Sans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EED7BE-AE06-40D2-A341-6ED22F8FC756}"/>
              </a:ext>
            </a:extLst>
          </p:cNvPr>
          <p:cNvSpPr txBox="1"/>
          <p:nvPr/>
        </p:nvSpPr>
        <p:spPr>
          <a:xfrm>
            <a:off x="651241" y="1033315"/>
            <a:ext cx="10407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cribd Sans"/>
              </a:rPr>
              <a:t>文章中參考的</a:t>
            </a:r>
            <a:r>
              <a:rPr lang="en-US" altLang="zh-TW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cribd Sans"/>
              </a:rPr>
              <a:t>paper - </a:t>
            </a:r>
            <a:r>
              <a:rPr lang="en-US" altLang="zh-TW" sz="2000" b="1" i="0" dirty="0">
                <a:solidFill>
                  <a:srgbClr val="222222"/>
                </a:solidFill>
                <a:effectLst/>
                <a:latin typeface="-apple-system"/>
              </a:rPr>
              <a:t>Development and validation of multivariable quantitative ultrasound for diagnosing hepatic steatosis</a:t>
            </a: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E8F4D83-AA2D-41C4-B63C-561469E45161}"/>
              </a:ext>
            </a:extLst>
          </p:cNvPr>
          <p:cNvSpPr txBox="1"/>
          <p:nvPr/>
        </p:nvSpPr>
        <p:spPr>
          <a:xfrm>
            <a:off x="3018367" y="3079234"/>
            <a:ext cx="6155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1524259-4F8D-4E3D-BF04-6F6EFE95F598}"/>
              </a:ext>
            </a:extLst>
          </p:cNvPr>
          <p:cNvSpPr txBox="1"/>
          <p:nvPr/>
        </p:nvSpPr>
        <p:spPr>
          <a:xfrm>
            <a:off x="1244600" y="3532990"/>
            <a:ext cx="2180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i="0" dirty="0">
                <a:solidFill>
                  <a:schemeClr val="accent1">
                    <a:lumMod val="75000"/>
                  </a:schemeClr>
                </a:solidFill>
                <a:effectLst/>
                <a:latin typeface="-apple-system"/>
              </a:rPr>
              <a:t>S2</a:t>
            </a:r>
            <a:endParaRPr lang="zh-TW" altLang="en-US" sz="2400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010C507-D8C7-4428-8F19-C1003BC611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2668"/>
          <a:stretch/>
        </p:blipFill>
        <p:spPr>
          <a:xfrm>
            <a:off x="2090797" y="1775112"/>
            <a:ext cx="9861466" cy="107684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FD3170F-B7AD-4CE0-83D8-21A3240A8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2926" y="2851953"/>
            <a:ext cx="9825649" cy="283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884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0CD1E-D131-4960-80C9-127D8936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4" y="227877"/>
            <a:ext cx="11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DeepUSFF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™</a:t>
            </a:r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earlier performance</a:t>
            </a:r>
            <a:endParaRPr lang="fr-FR" altLang="zh-TW" sz="3200" b="1" i="0" dirty="0">
              <a:solidFill>
                <a:srgbClr val="282828"/>
              </a:solidFill>
              <a:effectLst/>
              <a:latin typeface="Scribd Sans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EED7BE-AE06-40D2-A341-6ED22F8FC756}"/>
              </a:ext>
            </a:extLst>
          </p:cNvPr>
          <p:cNvSpPr txBox="1"/>
          <p:nvPr/>
        </p:nvSpPr>
        <p:spPr>
          <a:xfrm>
            <a:off x="651241" y="1033315"/>
            <a:ext cx="10407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cribd Sans"/>
              </a:rPr>
              <a:t>文章中參考的</a:t>
            </a:r>
            <a:r>
              <a:rPr lang="en-US" altLang="zh-TW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cribd Sans"/>
              </a:rPr>
              <a:t>paper - </a:t>
            </a:r>
            <a:r>
              <a:rPr lang="en-US" altLang="zh-TW" sz="2000" b="1" i="0" dirty="0">
                <a:solidFill>
                  <a:srgbClr val="222222"/>
                </a:solidFill>
                <a:effectLst/>
                <a:latin typeface="-apple-system"/>
              </a:rPr>
              <a:t>Development and validation of multivariable quantitative ultrasound for diagnosing hepatic steatosis</a:t>
            </a: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E8F4D83-AA2D-41C4-B63C-561469E45161}"/>
              </a:ext>
            </a:extLst>
          </p:cNvPr>
          <p:cNvSpPr txBox="1"/>
          <p:nvPr/>
        </p:nvSpPr>
        <p:spPr>
          <a:xfrm>
            <a:off x="3018367" y="3079234"/>
            <a:ext cx="6155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1524259-4F8D-4E3D-BF04-6F6EFE95F598}"/>
              </a:ext>
            </a:extLst>
          </p:cNvPr>
          <p:cNvSpPr txBox="1"/>
          <p:nvPr/>
        </p:nvSpPr>
        <p:spPr>
          <a:xfrm>
            <a:off x="1244600" y="3532990"/>
            <a:ext cx="2180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i="0" dirty="0">
                <a:solidFill>
                  <a:schemeClr val="accent1">
                    <a:lumMod val="75000"/>
                  </a:schemeClr>
                </a:solidFill>
                <a:effectLst/>
                <a:latin typeface="-apple-system"/>
              </a:rPr>
              <a:t>S3</a:t>
            </a:r>
            <a:endParaRPr lang="zh-TW" altLang="en-US" sz="2400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010C507-D8C7-4428-8F19-C1003BC611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2668"/>
          <a:stretch/>
        </p:blipFill>
        <p:spPr>
          <a:xfrm>
            <a:off x="2090797" y="1775112"/>
            <a:ext cx="9861466" cy="107684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6376CF1-9C2F-4A60-B579-CE0779752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615" y="2878032"/>
            <a:ext cx="9780648" cy="311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554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graphicFrame>
        <p:nvGraphicFramePr>
          <p:cNvPr id="20" name="表格 21">
            <a:extLst>
              <a:ext uri="{FF2B5EF4-FFF2-40B4-BE49-F238E27FC236}">
                <a16:creationId xmlns:a16="http://schemas.microsoft.com/office/drawing/2014/main" id="{E6B8BEF2-13F4-454A-A55D-4E404FD4767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88273071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6952066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1307389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103152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432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611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890853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4" y="227877"/>
            <a:ext cx="11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Samsung’s USFF development</a:t>
            </a:r>
            <a:endParaRPr lang="fr-FR" altLang="zh-TW" sz="3200" b="1" i="0" dirty="0">
              <a:solidFill>
                <a:srgbClr val="282828"/>
              </a:solidFill>
              <a:effectLst/>
              <a:latin typeface="Scribd Sans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E8F4D83-AA2D-41C4-B63C-561469E45161}"/>
              </a:ext>
            </a:extLst>
          </p:cNvPr>
          <p:cNvSpPr txBox="1"/>
          <p:nvPr/>
        </p:nvSpPr>
        <p:spPr>
          <a:xfrm>
            <a:off x="3018367" y="3079234"/>
            <a:ext cx="6155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459A363-C910-47F1-8892-66832E076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812" y="951484"/>
            <a:ext cx="5020376" cy="105742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FDE974B-8549-4164-9703-FD918937B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484" y="2206598"/>
            <a:ext cx="6299315" cy="1713258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4832D1F2-760A-4EE2-95B8-63440C961FA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0593"/>
          <a:stretch/>
        </p:blipFill>
        <p:spPr>
          <a:xfrm>
            <a:off x="419100" y="2253013"/>
            <a:ext cx="5081003" cy="1786533"/>
          </a:xfrm>
          <a:prstGeom prst="rect">
            <a:avLst/>
          </a:prstGeom>
        </p:spPr>
      </p:pic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6FB9251C-56BB-4BD1-A96B-31C0731E8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961685"/>
              </p:ext>
            </p:extLst>
          </p:nvPr>
        </p:nvGraphicFramePr>
        <p:xfrm>
          <a:off x="1799050" y="5195752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7075635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5412302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4887840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98896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899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First paper(</a:t>
                      </a:r>
                      <a:r>
                        <a:rPr lang="en-US" altLang="zh-TW" dirty="0" err="1"/>
                        <a:t>val</a:t>
                      </a:r>
                      <a:r>
                        <a:rPr lang="en-US" altLang="zh-TW" dirty="0"/>
                        <a:t> set)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68.8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59.0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78.6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978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Second paper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90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100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994283"/>
                  </a:ext>
                </a:extLst>
              </a:tr>
            </a:tbl>
          </a:graphicData>
        </a:graphic>
      </p:graphicFrame>
      <p:sp>
        <p:nvSpPr>
          <p:cNvPr id="24" name="文字方塊 23">
            <a:extLst>
              <a:ext uri="{FF2B5EF4-FFF2-40B4-BE49-F238E27FC236}">
                <a16:creationId xmlns:a16="http://schemas.microsoft.com/office/drawing/2014/main" id="{C62FB4FC-19BC-4916-ACF4-6061B0F58E75}"/>
              </a:ext>
            </a:extLst>
          </p:cNvPr>
          <p:cNvSpPr txBox="1"/>
          <p:nvPr/>
        </p:nvSpPr>
        <p:spPr>
          <a:xfrm>
            <a:off x="4773009" y="4646024"/>
            <a:ext cx="2180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i="0" dirty="0">
                <a:solidFill>
                  <a:schemeClr val="accent1">
                    <a:lumMod val="75000"/>
                  </a:schemeClr>
                </a:solidFill>
                <a:effectLst/>
                <a:latin typeface="-apple-system"/>
              </a:rPr>
              <a:t>Sensitive score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69385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graphicFrame>
        <p:nvGraphicFramePr>
          <p:cNvPr id="20" name="表格 21">
            <a:extLst>
              <a:ext uri="{FF2B5EF4-FFF2-40B4-BE49-F238E27FC236}">
                <a16:creationId xmlns:a16="http://schemas.microsoft.com/office/drawing/2014/main" id="{E6B8BEF2-13F4-454A-A55D-4E404FD476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8211480"/>
              </p:ext>
            </p:extLst>
          </p:nvPr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88273071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6952066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1307389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103152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432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611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890853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4" y="227877"/>
            <a:ext cx="11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Samsung’s USFF development</a:t>
            </a:r>
            <a:endParaRPr lang="fr-FR" altLang="zh-TW" sz="3200" b="1" i="0" dirty="0">
              <a:solidFill>
                <a:srgbClr val="282828"/>
              </a:solidFill>
              <a:effectLst/>
              <a:latin typeface="Scribd Sans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E8F4D83-AA2D-41C4-B63C-561469E45161}"/>
              </a:ext>
            </a:extLst>
          </p:cNvPr>
          <p:cNvSpPr txBox="1"/>
          <p:nvPr/>
        </p:nvSpPr>
        <p:spPr>
          <a:xfrm>
            <a:off x="3018367" y="3079234"/>
            <a:ext cx="6155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FDE974B-8549-4164-9703-FD918937BA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768" b="22629"/>
          <a:stretch/>
        </p:blipFill>
        <p:spPr>
          <a:xfrm>
            <a:off x="5338121" y="1007856"/>
            <a:ext cx="6299315" cy="832699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8C754614-E17B-4E69-8FA8-0C1D86861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4250" y="1764767"/>
            <a:ext cx="5880103" cy="5080487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3532B705-15AF-4C2A-85A5-9C4538DAC7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564" y="1986324"/>
            <a:ext cx="4107548" cy="4858930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4832D1F2-760A-4EE2-95B8-63440C961FA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40593" b="24925"/>
          <a:stretch/>
        </p:blipFill>
        <p:spPr>
          <a:xfrm>
            <a:off x="392582" y="923873"/>
            <a:ext cx="5081003" cy="103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891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C4314EA8-C2B2-4B8C-AE96-19E26F404C7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17116272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1528292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20257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036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47617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5" y="227877"/>
            <a:ext cx="11485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其他機器</a:t>
            </a:r>
            <a:r>
              <a:rPr lang="en-US" altLang="zh-TW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zh-TW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ACUSON Sequoia(2018)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EED7BE-AE06-40D2-A341-6ED22F8FC756}"/>
              </a:ext>
            </a:extLst>
          </p:cNvPr>
          <p:cNvSpPr txBox="1"/>
          <p:nvPr/>
        </p:nvSpPr>
        <p:spPr>
          <a:xfrm>
            <a:off x="554566" y="1144588"/>
            <a:ext cx="1040743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Ultrasound-derived fat fraction for detection of hepatic steatosis and quantification of liver fat content</a:t>
            </a:r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圖片 5">
            <a:extLst>
              <a:ext uri="{FF2B5EF4-FFF2-40B4-BE49-F238E27FC236}">
                <a16:creationId xmlns:a16="http://schemas.microsoft.com/office/drawing/2014/main" id="{5682B09A-F9C0-45F3-A55D-813A94111B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61" t="3770" r="2595" b="17062"/>
          <a:stretch/>
        </p:blipFill>
        <p:spPr>
          <a:xfrm>
            <a:off x="2058350" y="2053064"/>
            <a:ext cx="7399867" cy="223763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AF3C3DC-BFC5-4DF2-BBF5-9A7FC361299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6800"/>
          <a:stretch/>
        </p:blipFill>
        <p:spPr>
          <a:xfrm>
            <a:off x="2045853" y="4316848"/>
            <a:ext cx="7412364" cy="231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897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5875</TotalTime>
  <Words>483</Words>
  <Application>Microsoft Office PowerPoint</Application>
  <PresentationFormat>寬螢幕</PresentationFormat>
  <Paragraphs>72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8" baseType="lpstr">
      <vt:lpstr>-apple-system</vt:lpstr>
      <vt:lpstr>Scribd Sans</vt:lpstr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建宇 賴</dc:creator>
  <cp:lastModifiedBy>建宇 賴</cp:lastModifiedBy>
  <cp:revision>52</cp:revision>
  <dcterms:created xsi:type="dcterms:W3CDTF">2026-01-07T07:04:20Z</dcterms:created>
  <dcterms:modified xsi:type="dcterms:W3CDTF">2026-03-12T07:38:39Z</dcterms:modified>
</cp:coreProperties>
</file>